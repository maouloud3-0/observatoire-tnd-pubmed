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0dbd2474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0dbd2474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0dbd2474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0dbd2474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1511addd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1511add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0dbd2474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0dbd2474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4392e126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4392e126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dbd2474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0dbd2474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511add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511add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1511addd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1511addd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4392e126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4392e126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0dbd2474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0dbd2474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0dbd2474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0dbd2474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0dbd2474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0dbd2474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0dbd2474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0dbd2474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04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>
                <a:latin typeface="Comfortaa"/>
                <a:ea typeface="Comfortaa"/>
                <a:cs typeface="Comfortaa"/>
                <a:sym typeface="Comfortaa"/>
              </a:rPr>
              <a:t>Evolution de la recherche et de la prise en charge des troubles du neurodéveloppement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62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>
                <a:solidFill>
                  <a:srgbClr val="666666"/>
                </a:solidFill>
              </a:rPr>
              <a:t>SOUTENANCE DE PROJET TABLEAU DE BORD 2025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3850"/>
            <a:ext cx="25527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550" y="223850"/>
            <a:ext cx="2952750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531850" y="4320975"/>
            <a:ext cx="4080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</a:rPr>
              <a:t>KLEINHANS Emeline et KONTA Gaoussou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Présentation du sujet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7760" l="19268" r="19268" t="12640"/>
          <a:stretch/>
        </p:blipFill>
        <p:spPr>
          <a:xfrm>
            <a:off x="2649088" y="1152477"/>
            <a:ext cx="3845825" cy="37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Planning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2921400"/>
          </a:xfrm>
          <a:prstGeom prst="rect">
            <a:avLst/>
          </a:prstGeom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313" y="1234781"/>
            <a:ext cx="8451375" cy="26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Equation de recherche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16900"/>
            <a:ext cx="6018000" cy="2909700"/>
          </a:xfrm>
          <a:prstGeom prst="rect">
            <a:avLst/>
          </a:prstGeom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(“neurodevelopmental disorders”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DD7E6B"/>
                </a:solidFill>
                <a:highlight>
                  <a:srgbClr val="FFFFFF"/>
                </a:highlight>
              </a:rPr>
              <a:t>learning disorders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DD7E6B"/>
                </a:solidFill>
                <a:highlight>
                  <a:srgbClr val="FFFFFF"/>
                </a:highlight>
              </a:rPr>
              <a:t>dyslexia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DD7E6B"/>
                </a:solidFill>
                <a:highlight>
                  <a:srgbClr val="FFFFFF"/>
                </a:highlight>
              </a:rPr>
              <a:t>dyscalculia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F9CB9C"/>
                </a:solidFill>
                <a:highlight>
                  <a:srgbClr val="FFFFFF"/>
                </a:highlight>
              </a:rPr>
              <a:t>attention deficit hyperactivity disorder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B6D7A8"/>
                </a:solidFill>
                <a:highlight>
                  <a:srgbClr val="FFFFFF"/>
                </a:highlight>
              </a:rPr>
              <a:t>autism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B6D7A8"/>
                </a:solidFill>
                <a:highlight>
                  <a:srgbClr val="FFFFFF"/>
                </a:highlight>
              </a:rPr>
              <a:t>asperger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A4C2F4"/>
                </a:solidFill>
                <a:highlight>
                  <a:srgbClr val="FFFFFF"/>
                </a:highlight>
              </a:rPr>
              <a:t>intellectual developmental disorder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A4C2F4"/>
                </a:solidFill>
                <a:highlight>
                  <a:srgbClr val="FFFFFF"/>
                </a:highlight>
              </a:rPr>
              <a:t>intellectual disability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A4C2F4"/>
                </a:solidFill>
                <a:highlight>
                  <a:srgbClr val="FFFFFF"/>
                </a:highlight>
              </a:rPr>
              <a:t>mental retardation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(“</a:t>
            </a:r>
            <a:r>
              <a:rPr lang="fr" sz="1200">
                <a:solidFill>
                  <a:srgbClr val="B4A7D6"/>
                </a:solidFill>
                <a:highlight>
                  <a:srgbClr val="FFFFFF"/>
                </a:highlight>
              </a:rPr>
              <a:t>communication disorders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“neurodevelopmental disorders”)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(“</a:t>
            </a:r>
            <a:r>
              <a:rPr lang="fr" sz="1200">
                <a:solidFill>
                  <a:srgbClr val="D5A6BD"/>
                </a:solidFill>
                <a:highlight>
                  <a:srgbClr val="FFFFFF"/>
                </a:highlight>
              </a:rPr>
              <a:t>motor disorders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“neurodevelopmental disorders”)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D5A6BD"/>
                </a:solidFill>
                <a:highlight>
                  <a:srgbClr val="FFFFFF"/>
                </a:highlight>
              </a:rPr>
              <a:t>developmental coordination disorder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</a:t>
            </a:r>
            <a:r>
              <a:rPr lang="fr" sz="1200">
                <a:solidFill>
                  <a:srgbClr val="D5A6BD"/>
                </a:solidFill>
                <a:highlight>
                  <a:srgbClr val="FFFFFF"/>
                </a:highlight>
              </a:rPr>
              <a:t>dyspraxia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”)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(“studies”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“meta-analysis”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“diagnostic”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“diagnosis”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“therapy”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“treatment”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“interventions”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“factors”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“assessment”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“comorbidity”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“management”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 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“impact” </a:t>
            </a:r>
            <a:r>
              <a:rPr b="1" lang="fr" sz="12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lang="fr" sz="1200">
                <a:solidFill>
                  <a:schemeClr val="dk1"/>
                </a:solidFill>
                <a:highlight>
                  <a:srgbClr val="FFFFFF"/>
                </a:highlight>
              </a:rPr>
              <a:t> “evolution”)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425" y="1017725"/>
            <a:ext cx="1830625" cy="383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5375" y="4495075"/>
            <a:ext cx="13906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588150" y="4125763"/>
            <a:ext cx="5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fr" sz="1200">
                <a:solidFill>
                  <a:schemeClr val="dk1"/>
                </a:solidFill>
                <a:highlight>
                  <a:schemeClr val="lt1"/>
                </a:highlight>
              </a:rPr>
              <a:t>nb: </a:t>
            </a:r>
            <a:r>
              <a:rPr i="1" lang="fr" sz="1200">
                <a:solidFill>
                  <a:schemeClr val="dk1"/>
                </a:solidFill>
                <a:highlight>
                  <a:schemeClr val="lt1"/>
                </a:highlight>
              </a:rPr>
              <a:t>avec [tiab] après chaque expression 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099" y="338483"/>
            <a:ext cx="2011600" cy="67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Extraction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web </a:t>
            </a:r>
            <a:r>
              <a:rPr lang="fr"/>
              <a:t>scraping</a:t>
            </a:r>
            <a:r>
              <a:rPr lang="fr"/>
              <a:t> </a:t>
            </a:r>
            <a:endParaRPr/>
          </a:p>
        </p:txBody>
      </p:sp>
      <p:pic>
        <p:nvPicPr>
          <p:cNvPr id="88" name="Google Shape;88;p17" title="Diagramme des Fonctions de Web Scraping pour PubMed - visual selecti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63350"/>
            <a:ext cx="4357802" cy="33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Diagramme des Fonctions de Web Scraping pour PubMed - visual selectio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175" y="1331775"/>
            <a:ext cx="4147549" cy="33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Extraction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scraping </a:t>
            </a:r>
            <a:endParaRPr/>
          </a:p>
        </p:txBody>
      </p:sp>
      <p:pic>
        <p:nvPicPr>
          <p:cNvPr id="96" name="Google Shape;96;p18" title="Diagramme des Fonctions de Web Scraping pour PubMed - visual selection (3).png"/>
          <p:cNvPicPr preferRelativeResize="0"/>
          <p:nvPr/>
        </p:nvPicPr>
        <p:blipFill rotWithShape="1">
          <a:blip r:embed="rId3">
            <a:alphaModFix/>
          </a:blip>
          <a:srcRect b="19" l="0" r="0" t="9"/>
          <a:stretch/>
        </p:blipFill>
        <p:spPr>
          <a:xfrm>
            <a:off x="311700" y="1328825"/>
            <a:ext cx="4357801" cy="350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Diagramme des Fonctions de Web Scraping pour PubMed - visual selection.png"/>
          <p:cNvPicPr preferRelativeResize="0"/>
          <p:nvPr/>
        </p:nvPicPr>
        <p:blipFill rotWithShape="1">
          <a:blip r:embed="rId4">
            <a:alphaModFix/>
          </a:blip>
          <a:srcRect b="7294" l="0" r="0" t="7294"/>
          <a:stretch/>
        </p:blipFill>
        <p:spPr>
          <a:xfrm>
            <a:off x="4837525" y="1732450"/>
            <a:ext cx="4147549" cy="31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N</a:t>
            </a:r>
            <a:r>
              <a:rPr lang="fr">
                <a:latin typeface="Comfortaa"/>
                <a:ea typeface="Comfortaa"/>
                <a:cs typeface="Comfortaa"/>
                <a:sym typeface="Comfortaa"/>
              </a:rPr>
              <a:t>ettoyage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113750" y="1266775"/>
            <a:ext cx="691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suppression de la deuxième partie inutile de la 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date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(ex: pour conserver uniquement “2025 Jan” dans “2025 Jan;62(1):962-972”), puis convertir la date en un format uniforme grâce à la fonction </a:t>
            </a:r>
            <a:r>
              <a:rPr i="1" lang="fr" sz="1100">
                <a:solidFill>
                  <a:schemeClr val="dk1"/>
                </a:solidFill>
                <a:highlight>
                  <a:srgbClr val="FFFFFF"/>
                </a:highlight>
              </a:rPr>
              <a:t>to_datetime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de pandas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suppression des “[“ et “]” lorsqu’il y en a dans le 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titre </a:t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suppression des doublons, préalablement identifiés grâce aux 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PMID </a:t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mettre tout le contenu des colonnes </a:t>
            </a:r>
            <a:r>
              <a:rPr i="1" lang="fr" sz="1100">
                <a:solidFill>
                  <a:schemeClr val="dk1"/>
                </a:solidFill>
                <a:highlight>
                  <a:srgbClr val="FFFFFF"/>
                </a:highlight>
              </a:rPr>
              <a:t>Keywords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i="1" lang="fr" sz="1100">
                <a:solidFill>
                  <a:schemeClr val="dk1"/>
                </a:solidFill>
                <a:highlight>
                  <a:srgbClr val="FFFFFF"/>
                </a:highlight>
              </a:rPr>
              <a:t>Titre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i="1" lang="fr" sz="1100">
                <a:solidFill>
                  <a:schemeClr val="dk1"/>
                </a:solidFill>
                <a:highlight>
                  <a:srgbClr val="FFFFFF"/>
                </a:highlight>
              </a:rPr>
              <a:t>Abstract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et </a:t>
            </a:r>
            <a:r>
              <a:rPr i="1" lang="fr" sz="1100">
                <a:solidFill>
                  <a:schemeClr val="dk1"/>
                </a:solidFill>
                <a:highlight>
                  <a:srgbClr val="FFFFFF"/>
                </a:highlight>
              </a:rPr>
              <a:t>Affiliations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en 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minuscules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afin de faciliter le futur traitement de texte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suppression des articles qui n’ont pas l’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abstract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lorsque les </a:t>
            </a:r>
            <a:r>
              <a:rPr b="1" lang="fr" sz="1100">
                <a:solidFill>
                  <a:schemeClr val="dk1"/>
                </a:solidFill>
                <a:highlight>
                  <a:srgbClr val="FFFFFF"/>
                </a:highlight>
              </a:rPr>
              <a:t>mots clés </a:t>
            </a:r>
            <a:r>
              <a:rPr lang="fr" sz="1100">
                <a:solidFill>
                  <a:schemeClr val="dk1"/>
                </a:solidFill>
                <a:highlight>
                  <a:srgbClr val="FFFFFF"/>
                </a:highlight>
              </a:rPr>
              <a:t>ne sont pas disponibles, remplacer les “[ ]” par “NaN” et lorsqu’il y en a, suppression des caractères spéciaux inutiles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Transformation </a:t>
            </a:r>
            <a:r>
              <a:rPr lang="fr">
                <a:latin typeface="Comfortaa"/>
                <a:ea typeface="Comfortaa"/>
                <a:cs typeface="Comfortaa"/>
                <a:sym typeface="Comfortaa"/>
              </a:rPr>
              <a:t>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08250" y="17968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 Pour colonne </a:t>
            </a:r>
            <a:r>
              <a:rPr b="1" lang="fr"/>
              <a:t>TypeTrouble</a:t>
            </a:r>
            <a:endParaRPr b="1"/>
          </a:p>
        </p:txBody>
      </p:sp>
      <p:sp>
        <p:nvSpPr>
          <p:cNvPr id="110" name="Google Shape;110;p20"/>
          <p:cNvSpPr txBox="1"/>
          <p:nvPr/>
        </p:nvSpPr>
        <p:spPr>
          <a:xfrm>
            <a:off x="4568550" y="1796825"/>
            <a:ext cx="42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Pour colonne </a:t>
            </a:r>
            <a:r>
              <a:rPr b="1" lang="fr" sz="1800">
                <a:solidFill>
                  <a:schemeClr val="dk2"/>
                </a:solidFill>
              </a:rPr>
              <a:t>TypeSujet 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361875"/>
            <a:ext cx="4267200" cy="206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61880"/>
            <a:ext cx="4536627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1381200" y="1176425"/>
            <a:ext cx="66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Traitement des </a:t>
            </a:r>
            <a:r>
              <a:rPr b="1" lang="fr" sz="1800">
                <a:solidFill>
                  <a:schemeClr val="dk2"/>
                </a:solidFill>
              </a:rPr>
              <a:t>Keywords</a:t>
            </a:r>
            <a:r>
              <a:rPr lang="fr" sz="1800">
                <a:solidFill>
                  <a:schemeClr val="dk2"/>
                </a:solidFill>
              </a:rPr>
              <a:t> pour identifier trouble(s) et sujet(s)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Transformation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9" name="Google Shape;119;p21" title="Regroupement du Processus en Trois Étapes Principales - visual selection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5800"/>
            <a:ext cx="4466874" cy="345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Regroupement du Processus en Trois Étapes Principales - visual selection0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675" y="1535800"/>
            <a:ext cx="4213925" cy="34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Transformation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6" name="Google Shape;126;p22" title="Regroupement du Processus en Trois Étapes Principales - visual selection003.png"/>
          <p:cNvPicPr preferRelativeResize="0"/>
          <p:nvPr/>
        </p:nvPicPr>
        <p:blipFill rotWithShape="1">
          <a:blip r:embed="rId3">
            <a:alphaModFix/>
          </a:blip>
          <a:srcRect b="7569" l="0" r="0" t="7569"/>
          <a:stretch/>
        </p:blipFill>
        <p:spPr>
          <a:xfrm>
            <a:off x="1336250" y="1566850"/>
            <a:ext cx="6758800" cy="319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Administration des données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1141925" y="1857088"/>
            <a:ext cx="29811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ARTICLE(</a:t>
            </a:r>
            <a:r>
              <a:rPr lang="fr" sz="1200" u="sng">
                <a:solidFill>
                  <a:schemeClr val="dk1"/>
                </a:solidFill>
              </a:rPr>
              <a:t>pmid</a:t>
            </a:r>
            <a:r>
              <a:rPr lang="fr" sz="1200">
                <a:solidFill>
                  <a:schemeClr val="dk1"/>
                </a:solidFill>
              </a:rPr>
              <a:t>, titre, date)</a:t>
            </a:r>
            <a:endParaRPr sz="1200">
              <a:solidFill>
                <a:srgbClr val="DD7E6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AUTEUR(</a:t>
            </a:r>
            <a:r>
              <a:rPr lang="fr" sz="1200" u="sng">
                <a:solidFill>
                  <a:schemeClr val="dk1"/>
                </a:solidFill>
              </a:rPr>
              <a:t>id_auteur</a:t>
            </a:r>
            <a:r>
              <a:rPr lang="fr" sz="1200">
                <a:solidFill>
                  <a:schemeClr val="dk1"/>
                </a:solidFill>
              </a:rPr>
              <a:t>, nom, affiliation, pays, continent, developpement)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TROUBLE(</a:t>
            </a:r>
            <a:r>
              <a:rPr lang="fr" sz="1200" u="sng">
                <a:solidFill>
                  <a:schemeClr val="dk1"/>
                </a:solidFill>
              </a:rPr>
              <a:t>id_trouble</a:t>
            </a:r>
            <a:r>
              <a:rPr lang="fr" sz="1200">
                <a:solidFill>
                  <a:schemeClr val="dk1"/>
                </a:solidFill>
              </a:rPr>
              <a:t>, type)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SUJET(</a:t>
            </a:r>
            <a:r>
              <a:rPr lang="fr" sz="1200" u="sng">
                <a:solidFill>
                  <a:schemeClr val="dk1"/>
                </a:solidFill>
              </a:rPr>
              <a:t>id_sujet</a:t>
            </a:r>
            <a:r>
              <a:rPr lang="fr" sz="1200">
                <a:solidFill>
                  <a:schemeClr val="dk1"/>
                </a:solidFill>
              </a:rPr>
              <a:t>, mot)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REDIGER(</a:t>
            </a:r>
            <a:r>
              <a:rPr lang="fr" sz="1200" u="sng">
                <a:solidFill>
                  <a:schemeClr val="dk1"/>
                </a:solidFill>
              </a:rPr>
              <a:t>#pmid, #id_auteur</a:t>
            </a:r>
            <a:r>
              <a:rPr lang="fr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TRAITER(</a:t>
            </a:r>
            <a:r>
              <a:rPr lang="fr" sz="1200" u="sng">
                <a:solidFill>
                  <a:schemeClr val="dk1"/>
                </a:solidFill>
              </a:rPr>
              <a:t>#pmid, #id_trouble</a:t>
            </a:r>
            <a:r>
              <a:rPr lang="fr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</a:rPr>
              <a:t>ABORDER(</a:t>
            </a:r>
            <a:r>
              <a:rPr lang="fr" sz="1200" u="sng">
                <a:solidFill>
                  <a:schemeClr val="dk1"/>
                </a:solidFill>
              </a:rPr>
              <a:t>#pmid, #id_sujet</a:t>
            </a:r>
            <a:r>
              <a:rPr lang="fr" sz="1200">
                <a:solidFill>
                  <a:schemeClr val="dk1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018" y="768713"/>
            <a:ext cx="3312857" cy="360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5857438" y="4510350"/>
            <a:ext cx="22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Schéma conceptuel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1141923" y="3713500"/>
            <a:ext cx="201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Schéma logique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Visualisation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153" y="1185838"/>
            <a:ext cx="4611700" cy="33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"/>
                <a:ea typeface="Comfortaa"/>
                <a:cs typeface="Comfortaa"/>
                <a:sym typeface="Comfortaa"/>
              </a:rPr>
              <a:t>Conclusion et bilan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3100">
                <a:latin typeface="Comfortaa"/>
                <a:ea typeface="Comfortaa"/>
                <a:cs typeface="Comfortaa"/>
                <a:sym typeface="Comfortaa"/>
              </a:rPr>
              <a:t>Merci pour votre attention. </a:t>
            </a:r>
            <a:endParaRPr sz="3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3100">
                <a:latin typeface="Comfortaa"/>
                <a:ea typeface="Comfortaa"/>
                <a:cs typeface="Comfortaa"/>
                <a:sym typeface="Comfortaa"/>
              </a:rPr>
              <a:t>Avez vous des questions ? </a:t>
            </a:r>
            <a:endParaRPr sz="3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